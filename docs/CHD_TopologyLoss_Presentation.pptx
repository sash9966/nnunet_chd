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0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2712" y="1463040"/>
            <a:ext cx="73152" cy="39319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14232" y="274320"/>
            <a:ext cx="3200400" cy="1828800"/>
          </a:xfrm>
          <a:prstGeom prst="rect">
            <a:avLst/>
          </a:prstGeom>
          <a:solidFill>
            <a:srgbClr val="1A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14232" y="274320"/>
            <a:ext cx="320040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Calibri"/>
              </a:rPr>
              <a:t>Topology-Preserving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7C6AF7"/>
                </a:solidFill>
                <a:latin typeface="Calibri"/>
              </a:rPr>
              <a:t>of Congenital Heart Disease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DC9E6"/>
                </a:solidFill>
                <a:latin typeface="Calibri"/>
              </a:rPr>
              <a:t>Cascaded nnU-Net with FiLM Disease Conditioning &amp; soft-clDice 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4114800" cy="27432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nnU-Net V2 fork  ·  all-experiments branch  ·  Stanford / Akshay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8552" y="2286000"/>
            <a:ext cx="1463040" cy="1143000"/>
          </a:xfrm>
          <a:prstGeom prst="rect">
            <a:avLst/>
          </a:prstGeom>
          <a:solidFill>
            <a:srgbClr val="1C2038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23957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7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Composed Trainers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231868552" y="2286000"/>
            <a:ext cx="1463040" cy="1143000"/>
          </a:xfrm>
          <a:prstGeom prst="rect">
            <a:avLst/>
          </a:prstGeom>
          <a:solidFill>
            <a:srgbClr val="1C2038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231868552" y="23957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7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231868552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Mixin Features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88552" y="3657600"/>
            <a:ext cx="1463040" cy="1143000"/>
          </a:xfrm>
          <a:prstGeom prst="rect">
            <a:avLst/>
          </a:prstGeom>
          <a:solidFill>
            <a:srgbClr val="1C2038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37673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7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4297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Cardiac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231868552" y="3657600"/>
            <a:ext cx="1463040" cy="1143000"/>
          </a:xfrm>
          <a:prstGeom prst="rect">
            <a:avLst/>
          </a:prstGeom>
          <a:solidFill>
            <a:srgbClr val="1C2038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231868552" y="376732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6AF7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231868552" y="4297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2B0"/>
                </a:solidFill>
                <a:latin typeface="Calibri"/>
              </a:rPr>
              <a:t>Disease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Why do we need topology loss and disease conditioning?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011680" cy="914400"/>
          </a:xfrm>
          <a:prstGeom prst="rect">
            <a:avLst/>
          </a:prstGeom>
          <a:solidFill>
            <a:srgbClr val="1A2216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D87A"/>
                </a:solidFill>
                <a:latin typeface="Calibri"/>
              </a:rPr>
              <a:t>~0.95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Whole-Heart Dice
(3d_fullres 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C9E6"/>
                </a:solidFill>
                <a:latin typeface="Calibri"/>
              </a:rPr>
              <a:t>→  But two systematic failure modes remain: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394960" cy="1645920"/>
          </a:xfrm>
          <a:prstGeom prst="rect">
            <a:avLst/>
          </a:prstGeom>
          <a:solidFill>
            <a:srgbClr val="161B2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 b="1">
                <a:solidFill>
                  <a:srgbClr val="F56565"/>
                </a:solidFill>
                <a:latin typeface="Calibri"/>
              </a:rPr>
              <a:t>Failure 1 — Great Vessel Label Confusion</a:t>
            </a:r>
          </a:p>
          <a:p>
            <a:pPr algn="l"/>
            <a:r>
              <a:rPr sz="900" b="1">
                <a:solidFill>
                  <a:srgbClr val="F56565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AO/PA label confusion in TGA &amp; DORV cases</a:t>
            </a:r>
          </a:p>
          <a:p>
            <a:pPr algn="l"/>
            <a:r>
              <a:rPr sz="900" b="1">
                <a:solidFill>
                  <a:srgbClr val="F56565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Fullres patch lacks global context to determine which vessel exits which ventricle</a:t>
            </a:r>
          </a:p>
          <a:p>
            <a:pPr algn="l"/>
            <a:r>
              <a:rPr sz="900" b="1">
                <a:solidFill>
                  <a:srgbClr val="F56565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TGA: aorta exits RV, PA exits LV — reversed from normal anatomy</a:t>
            </a:r>
          </a:p>
          <a:p>
            <a:pPr algn="l"/>
            <a:r>
              <a:rPr sz="900" b="1">
                <a:solidFill>
                  <a:srgbClr val="F56565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DORV: both great vessels exit RV — both labels spatially ambiguous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5394960" cy="1463040"/>
          </a:xfrm>
          <a:prstGeom prst="rect">
            <a:avLst/>
          </a:prstGeom>
          <a:solidFill>
            <a:srgbClr val="161B2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 b="1">
                <a:solidFill>
                  <a:srgbClr val="F5C542"/>
                </a:solidFill>
                <a:latin typeface="Calibri"/>
              </a:rPr>
              <a:t>Failure 2 — VSD Boundary Ambiguity</a:t>
            </a:r>
          </a:p>
          <a:p>
            <a:pPr algn="l"/>
            <a:r>
              <a:rPr sz="900" b="1">
                <a:solidFill>
                  <a:srgbClr val="F5C542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VSD: inter-ventricular septum is absent or incomplete</a:t>
            </a:r>
          </a:p>
          <a:p>
            <a:pPr algn="l"/>
            <a:r>
              <a:rPr sz="900" b="1">
                <a:solidFill>
                  <a:srgbClr val="F5C542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Model predicts single large LV region instead of LV + RV</a:t>
            </a:r>
          </a:p>
          <a:p>
            <a:pPr algn="l"/>
            <a:r>
              <a:rPr sz="900" b="1">
                <a:solidFill>
                  <a:srgbClr val="F5C542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AVSD: all four-chamber septal borders ambiguous simultaneously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97280"/>
            <a:ext cx="5303520" cy="4114800"/>
          </a:xfrm>
          <a:prstGeom prst="rect">
            <a:avLst/>
          </a:prstGeom>
          <a:solidFill>
            <a:srgbClr val="161B2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 b="1">
                <a:solidFill>
                  <a:srgbClr val="7C6AF7"/>
                </a:solidFill>
                <a:latin typeface="Calibri"/>
              </a:rPr>
              <a:t>Our Solutions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Cascade pipeline: low-res stage sees full cardiac anatomy in one patch → global context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FiLM conditioning: inject disease vector to bias network toward correct anatomy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soft-clDice topology loss: penalise broken vessel centerlines on AO &amp;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Data: Labels &amp; Disease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8 cardiac structures  ·  K=8 binary disease flags per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45720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078992"/>
            <a:ext cx="228600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078992"/>
            <a:ext cx="77724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143000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Abbrev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1078992"/>
            <a:ext cx="68580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14300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Topo?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426464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49961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1426464"/>
            <a:ext cx="22860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1499616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Background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426464"/>
            <a:ext cx="77724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45536" y="1499616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BG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1426464"/>
            <a:ext cx="6858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22776" y="1499616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773936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184708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1773936"/>
            <a:ext cx="22860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184708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LV Blood Pool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1773936"/>
            <a:ext cx="77724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45536" y="1847088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LV-BP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1773936"/>
            <a:ext cx="6858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22776" y="1847088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121408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21945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2121408"/>
            <a:ext cx="22860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219456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RV Blood Pool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2121408"/>
            <a:ext cx="77724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45536" y="2194560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RV-BP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2121408"/>
            <a:ext cx="6858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22776" y="2194560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468880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25420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2468880"/>
            <a:ext cx="22860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254203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Left Atrium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2468880"/>
            <a:ext cx="77724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45536" y="2542032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6200" y="2468880"/>
            <a:ext cx="6858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22776" y="2542032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816352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" y="28895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" y="2816352"/>
            <a:ext cx="22860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6" y="2889504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Right Atrium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2816352"/>
            <a:ext cx="77724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45536" y="2889504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RA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86200" y="2816352"/>
            <a:ext cx="6858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22776" y="2889504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163824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6" y="323697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" y="3163824"/>
            <a:ext cx="22860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" y="3236976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Myocardium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08960" y="3163824"/>
            <a:ext cx="77724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45536" y="3236976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Myo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86200" y="3163824"/>
            <a:ext cx="6858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22776" y="3236976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511296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2336" y="358444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" y="3511296"/>
            <a:ext cx="22860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" y="3584448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Aorta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3511296"/>
            <a:ext cx="77724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45536" y="3584448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AO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86200" y="3511296"/>
            <a:ext cx="6858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22776" y="3584448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6AF7"/>
                </a:solidFill>
                <a:latin typeface="Calibri"/>
              </a:rPr>
              <a:t>clDice 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3858768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" y="393192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DC9E6"/>
                </a:solidFill>
                <a:latin typeface="Calibri"/>
              </a:rPr>
              <a:t>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" y="3858768"/>
            <a:ext cx="22860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9536" y="393192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Pulmonary A.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08960" y="3858768"/>
            <a:ext cx="77724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145536" y="3931920"/>
            <a:ext cx="7040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E2E8F0"/>
                </a:solidFill>
                <a:latin typeface="Calibri"/>
              </a:rPr>
              <a:t>PA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86200" y="3858768"/>
            <a:ext cx="6858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22776" y="3931920"/>
            <a:ext cx="612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C6AF7"/>
                </a:solidFill>
                <a:latin typeface="Calibri"/>
              </a:rPr>
              <a:t>clDice 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17720" y="1005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FF"/>
                </a:solidFill>
                <a:latin typeface="Courier New"/>
              </a:rPr>
              <a:t>disease_map.json  →  {"SV_001": [0,0,1,0,0,0,0,1], ...}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1078992"/>
            <a:ext cx="45720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17720" y="11430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Idx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20640" y="1078992"/>
            <a:ext cx="64008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20640" y="11430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Flag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06440" y="1078992"/>
            <a:ext cx="356616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06440" y="11430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Key implication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464040" y="1078992"/>
            <a:ext cx="2057400" cy="347472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464040" y="114300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Topology risk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17720" y="1426464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54296" y="149047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0" y="1426464"/>
            <a:ext cx="64008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57216" y="149047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HLHS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06440" y="1426464"/>
            <a:ext cx="356616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43016" y="149047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LV may be absent/tiny; AO unreliable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464040" y="1426464"/>
            <a:ext cx="20574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500616" y="1490472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Low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17720" y="1773936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54296" y="183794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120640" y="1773936"/>
            <a:ext cx="64008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57216" y="183794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ASD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806440" y="1773936"/>
            <a:ext cx="356616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43016" y="183794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LA–RA may be adjacent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64040" y="1773936"/>
            <a:ext cx="20574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00616" y="1837944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Low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17720" y="2121408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54296" y="218541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120640" y="2121408"/>
            <a:ext cx="64008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57216" y="218541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VSD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806440" y="2121408"/>
            <a:ext cx="356616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843016" y="218541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LV–RV boundary ambiguous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464040" y="2121408"/>
            <a:ext cx="20574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500616" y="2185416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VSD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17720" y="2468880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54296" y="253288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120640" y="2468880"/>
            <a:ext cx="64008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57216" y="2532888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AVSD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06440" y="2468880"/>
            <a:ext cx="356616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843016" y="2532888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All 4-chamber borders ambiguous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464040" y="2468880"/>
            <a:ext cx="20574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00616" y="2532888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AVSD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17720" y="2816352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54296" y="288036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120640" y="2816352"/>
            <a:ext cx="64008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157216" y="2880360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DORV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806440" y="2816352"/>
            <a:ext cx="356616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843016" y="2880360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Both AO &amp; PA exit RV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464040" y="2816352"/>
            <a:ext cx="20574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500616" y="2880360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DORV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17720" y="3163824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654296" y="32278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20640" y="3163824"/>
            <a:ext cx="64008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57216" y="322783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PuA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806440" y="3163824"/>
            <a:ext cx="356616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843016" y="3227832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AO/PA fused — vessel absent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464040" y="3163824"/>
            <a:ext cx="20574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500616" y="3227832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Low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617720" y="3511296"/>
            <a:ext cx="4572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54296" y="357530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120640" y="3511296"/>
            <a:ext cx="64008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157216" y="357530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ToF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806440" y="3511296"/>
            <a:ext cx="356616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843016" y="3575304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Overriding aorta straddles VSD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464040" y="3511296"/>
            <a:ext cx="2057400" cy="347472"/>
          </a:xfrm>
          <a:prstGeom prst="rect">
            <a:avLst/>
          </a:prstGeom>
          <a:solidFill>
            <a:srgbClr val="1A1E32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500616" y="3575304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6A623"/>
                </a:solidFill>
                <a:latin typeface="Calibri"/>
              </a:rPr>
              <a:t>ToF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617720" y="3858768"/>
            <a:ext cx="4572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654296" y="392277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  <a:latin typeface="Calibri"/>
              </a:rPr>
              <a:t>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120640" y="3858768"/>
            <a:ext cx="64008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157216" y="392277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DC9E6"/>
                </a:solidFill>
                <a:latin typeface="Calibri"/>
              </a:rPr>
              <a:t>TGA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806440" y="3858768"/>
            <a:ext cx="356616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843016" y="3922776"/>
            <a:ext cx="3493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AO↔RV, PA↔LV (reversed)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464040" y="3858768"/>
            <a:ext cx="2057400" cy="347472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00616" y="3922776"/>
            <a:ext cx="1984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6565"/>
                </a:solidFill>
                <a:latin typeface="Calibri"/>
              </a:rPr>
              <a:t>TGA 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Cascade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Two-stage approach: global context → local boundary refinement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657600" cy="3840480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657600" cy="45720"/>
          </a:xfrm>
          <a:prstGeom prst="rect">
            <a:avLst/>
          </a:prstGeom>
          <a:solidFill>
            <a:srgbClr val="4DC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18872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C9E6"/>
                </a:solidFill>
                <a:latin typeface="Calibri"/>
              </a:rPr>
              <a:t>Stage 1 — 3d_lowres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72768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~3–4 mm voxel spacing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20240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Full heart in every 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67712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Global label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15184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FiLM: disease-aware topology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62656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Optional: clDice on AO/PA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310128"/>
            <a:ext cx="34381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Output → coarse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6AF7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468880"/>
            <a:ext cx="1097280" cy="822960"/>
          </a:xfrm>
          <a:prstGeom prst="rect">
            <a:avLst/>
          </a:prstGeom>
          <a:solidFill>
            <a:srgbClr val="1E1838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487168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C6AF7"/>
                </a:solidFill>
                <a:latin typeface="Calibri"/>
              </a:rPr>
              <a:t>concat
one-hot
prior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6AF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097280"/>
            <a:ext cx="3840480" cy="3840480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097280"/>
            <a:ext cx="384048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1188720"/>
            <a:ext cx="3621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  <a:latin typeface="Calibri"/>
              </a:rPr>
              <a:t>Stage 2 — 3d_cascade_fullres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1572768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~1 mm voxel spacing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1920240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Local boundary 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267712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Prior from Stage 1 as extra channels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615184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FiLM: disease-aware refinement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962656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Optional: clDice on AO/PA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310128"/>
            <a:ext cx="36210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◆  Output → final labels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206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892B0"/>
                </a:solidFill>
                <a:latin typeface="Calibri"/>
              </a:rPr>
              <a:t>Key insight:  Stage 1 sees the entire cardiac anatomy → correct global vessel assignment.  Stage 2 sharpens boundaries using the Stage 1 prior + full resolution.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C542"/>
                </a:solidFill>
                <a:latin typeface="Calibri"/>
              </a:rPr>
              <a:t>⚠  ExperimentPlannerForceLowRes required — default nnU-Net planner skips 3d_lowres for cardiac 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FiLM Disease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Feature-wise Linear Modulation at the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4937760" cy="2560320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200" b="0">
                <a:solidFill>
                  <a:srgbClr val="8892B0"/>
                </a:solidFill>
                <a:latin typeface="Calibri"/>
              </a:rPr>
              <a:t>Image → Encoder → Bottleneck</a:t>
            </a:r>
          </a:p>
          <a:p>
            <a:pPr algn="l"/>
            <a:r>
              <a:rPr sz="600" b="0">
                <a:solidFill>
                  <a:srgbClr val="8892B0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          ↓</a:t>
            </a:r>
          </a:p>
          <a:p>
            <a:pPr algn="l"/>
            <a:r>
              <a:rPr sz="1150" b="0">
                <a:solidFill>
                  <a:srgbClr val="4DC9E6"/>
                </a:solidFill>
                <a:latin typeface="Calibri"/>
              </a:rPr>
              <a:t>          disease_mlp( vec_K8 )  →  γ, β  (channel-wise)</a:t>
            </a:r>
          </a:p>
          <a:p>
            <a:pPr algn="l"/>
            <a:r>
              <a:rPr sz="1150" b="1">
                <a:solidFill>
                  <a:srgbClr val="E2E8F0"/>
                </a:solidFill>
                <a:latin typeface="Calibri"/>
              </a:rPr>
              <a:t>          feature  =  (1 + γ) × feature + β</a:t>
            </a:r>
          </a:p>
          <a:p>
            <a:pPr algn="l"/>
            <a:r>
              <a:rPr sz="1200" b="0">
                <a:solidFill>
                  <a:srgbClr val="E2E8F0"/>
                </a:solidFill>
                <a:latin typeface="Calibri"/>
              </a:rPr>
              <a:t>          ↓</a:t>
            </a:r>
          </a:p>
          <a:p>
            <a:pPr algn="l"/>
            <a:r>
              <a:rPr sz="1200" b="0">
                <a:solidFill>
                  <a:srgbClr val="8892B0"/>
                </a:solidFill>
                <a:latin typeface="Calibri"/>
              </a:rPr>
              <a:t>Decoder →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794760"/>
            <a:ext cx="2606040" cy="1097280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26060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8679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6AF7"/>
                </a:solidFill>
                <a:latin typeface="Calibri"/>
              </a:rPr>
              <a:t>Bottleneck-only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417880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Decoder has N=7 stages → (1+γ)^7 ≈ 2× feature distortion with γ=0.1. Applied at bottleneck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3794760"/>
            <a:ext cx="2606040" cy="1097280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3794760"/>
            <a:ext cx="2606040" cy="36576"/>
          </a:xfrm>
          <a:prstGeom prst="rect">
            <a:avLst/>
          </a:prstGeom>
          <a:solidFill>
            <a:srgbClr val="4DC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38679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DC9E6"/>
                </a:solidFill>
                <a:latin typeface="Calibri"/>
              </a:rPr>
              <a:t>Near-zero 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417880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weights σ=0.01 → identity transform at start. Training begins from unconditioned baseline.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29200"/>
            <a:ext cx="2606040" cy="1097280"/>
          </a:xfrm>
          <a:prstGeom prst="rect">
            <a:avLst/>
          </a:prstGeom>
          <a:solidFill>
            <a:srgbClr val="14182C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2606040" cy="36576"/>
          </a:xfrm>
          <a:prstGeom prst="rect">
            <a:avLst/>
          </a:prstGeom>
          <a:solidFill>
            <a:srgbClr val="22D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5102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87A"/>
                </a:solidFill>
                <a:latin typeface="Calibri"/>
              </a:rPr>
              <a:t>LR ×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4132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disease_mlp + bottleneck_film params use 2× learning rate to learn conditioning faster.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5029200"/>
            <a:ext cx="2606040" cy="1097280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4680" y="5029200"/>
            <a:ext cx="260604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51023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  <a:latin typeface="Calibri"/>
              </a:rPr>
              <a:t>CFG dropout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541324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10% of batches use zero disease vector. Prevents over-reliance on disease label at inference.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1097280"/>
            <a:ext cx="6126480" cy="4754880"/>
          </a:xfrm>
          <a:prstGeom prst="rect">
            <a:avLst/>
          </a:prstGeom>
          <a:solidFill>
            <a:srgbClr val="1A142A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840" y="1097280"/>
            <a:ext cx="612648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117043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  <a:latin typeface="Calibri"/>
              </a:rPr>
              <a:t>Instability Lesson (Early Experiments)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572768"/>
            <a:ext cx="5806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Applied FiLM at all 7 decoder stages →</a:t>
            </a:r>
          </a:p>
          <a:p>
            <a:pPr algn="l"/>
            <a:r>
              <a:rPr sz="1100" b="1">
                <a:solidFill>
                  <a:srgbClr val="F56565"/>
                </a:solidFill>
                <a:latin typeface="Calibri"/>
              </a:rPr>
              <a:t>   (1 + γ)^7  ≈  1.95×  feature distortion  at  γ = 0.1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With LR×10 + momentum 0.99:</a:t>
            </a:r>
          </a:p>
          <a:p>
            <a:pPr algn="l"/>
            <a:r>
              <a:rPr sz="1100" b="0">
                <a:solidFill>
                  <a:srgbClr val="F56565"/>
                </a:solidFill>
                <a:latin typeface="Calibri"/>
              </a:rPr>
              <a:t>   γ grew large fast → training diverged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50" b="1">
                <a:solidFill>
                  <a:srgbClr val="22D87A"/>
                </a:solidFill>
                <a:latin typeface="Calibri"/>
              </a:rPr>
              <a:t>Fix: bottleneck-only + LR×2 + near-zero init</a:t>
            </a:r>
          </a:p>
          <a:p>
            <a:pPr algn="l"/>
            <a:r>
              <a:rPr sz="1100" b="0">
                <a:solidFill>
                  <a:srgbClr val="8892B0"/>
                </a:solidFill>
                <a:latin typeface="Calibri"/>
              </a:rPr>
              <a:t>   Training is now stable across all experiments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disease_param_prefixes = {</a:t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    'disease_mlp',</a:t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    'bottleneck_film'</a:t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Topology Loss: soft-clDice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Shit et al., CVPR 2021 — clDice: A Novel Topology-Preserving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6858000" cy="502920"/>
          </a:xfrm>
          <a:prstGeom prst="rect">
            <a:avLst/>
          </a:prstGeom>
          <a:solidFill>
            <a:srgbClr val="14183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alibri"/>
              </a:rPr>
              <a:t>S. Shit et al.  "clDice - a Novel Topology-Preserving Loss Function for Tubular Structure Segmentation."  CVPR 2021.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303520" cy="2286000"/>
          </a:xfrm>
          <a:prstGeom prst="rect">
            <a:avLst/>
          </a:prstGeom>
          <a:solidFill>
            <a:srgbClr val="161B2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 b="1">
                <a:solidFill>
                  <a:srgbClr val="7C6AF7"/>
                </a:solidFill>
                <a:latin typeface="Calibri"/>
              </a:rPr>
              <a:t>Core Idea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Standard Dice measures voxel overlap — insensitive to broken connectivity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Two predictions with same Dice can have very different topology (one vessel vs many fragments)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clDice: compare soft skeletons (centerlines) of prediction and GT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A broken vessel → skeleton fragments → low skeleton overlap → high loss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Fully differentiable — gradients flow through soft morphological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14800"/>
            <a:ext cx="5303520" cy="2331720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300" b="1">
                <a:solidFill>
                  <a:srgbClr val="4DC9E6"/>
                </a:solidFill>
                <a:latin typeface="Calibri"/>
              </a:rPr>
              <a:t>clDice Formula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tprec = Σ(skel_pred · gt)   / Σ(skel_pred)   ← skeleton inside GT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tsens = Σ(skel_gt  · pred)  / Σ(skel_gt)     ← GT skeleton inside pred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7C6AF7"/>
                </a:solidFill>
                <a:latin typeface="Calibri"/>
              </a:rPr>
              <a:t>clDice = 2·tprec·tsens / (tprec + tsens + ε)</a:t>
            </a:r>
          </a:p>
          <a:p>
            <a:pPr algn="l"/>
            <a:r>
              <a:rPr sz="1300" b="1">
                <a:solidFill>
                  <a:srgbClr val="F56565"/>
                </a:solidFill>
                <a:latin typeface="Calibri"/>
              </a:rPr>
              <a:t>loss   = 1 − clDice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5C542"/>
                </a:solidFill>
                <a:latin typeface="Calibri"/>
              </a:rPr>
              <a:t>Applied as extra term:  total = Dice+CE  +  w · clDice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91640"/>
            <a:ext cx="5760720" cy="2286000"/>
          </a:xfrm>
          <a:prstGeom prst="rect">
            <a:avLst/>
          </a:prstGeom>
          <a:solidFill>
            <a:srgbClr val="161B2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 b="1">
                <a:solidFill>
                  <a:srgbClr val="4DC9E6"/>
                </a:solidFill>
                <a:latin typeface="Calibri"/>
              </a:rPr>
              <a:t>Why Applied to AO (label 6) &amp; PA (label 7) Only?</a:t>
            </a:r>
          </a:p>
          <a:p>
            <a:pPr algn="l"/>
            <a:r>
              <a:rPr sz="900" b="1">
                <a:solidFill>
                  <a:srgbClr val="4DC9E6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AO and PA are tubular (vessel-like) — clDice designed for tubes</a:t>
            </a:r>
          </a:p>
          <a:p>
            <a:pPr algn="l"/>
            <a:r>
              <a:rPr sz="900" b="1">
                <a:solidFill>
                  <a:srgbClr val="4DC9E6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Dominant failure modes (TGA, DORV) involve AO/PA topology</a:t>
            </a:r>
          </a:p>
          <a:p>
            <a:pPr algn="l"/>
            <a:r>
              <a:rPr sz="900" b="1">
                <a:solidFill>
                  <a:srgbClr val="4DC9E6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Non-tubular structures (LV, RV, atria) do not benefit from skeleton loss</a:t>
            </a:r>
          </a:p>
          <a:p>
            <a:pPr algn="l"/>
            <a:r>
              <a:rPr sz="900" b="1">
                <a:solidFill>
                  <a:srgbClr val="4DC9E6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Applying to all 8 classes × 10 skeleton iters would be computationally prohibitive</a:t>
            </a:r>
          </a:p>
          <a:p>
            <a:pPr algn="l"/>
            <a:r>
              <a:rPr sz="900" b="1">
                <a:solidFill>
                  <a:srgbClr val="4DC9E6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Label IDs resolved dynamically from dataset.json keyword 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114800"/>
            <a:ext cx="5760720" cy="2331720"/>
          </a:xfrm>
          <a:prstGeom prst="rect">
            <a:avLst/>
          </a:prstGeom>
          <a:solidFill>
            <a:srgbClr val="142214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4114800"/>
            <a:ext cx="5760720" cy="36576"/>
          </a:xfrm>
          <a:prstGeom prst="rect">
            <a:avLst/>
          </a:prstGeom>
          <a:solidFill>
            <a:srgbClr val="22D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41879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87A"/>
                </a:solidFill>
                <a:latin typeface="Calibri"/>
              </a:rPr>
              <a:t>3D Implementation — Fully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57200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soft_erode / soft_dilate detect tensor dimensionality:
  4D  (B,1,H,W)   → F.max_pool2d  (kernel 3×3)
  5D  (B,1,D,H,W) → F.max_pool3d  (kernel 3×3×3)
No code changes needed for 3D — already dimension-agnostic.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Soft Skeletonization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Differentiable skeleton via iterative morphological opening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4023360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l"/>
            <a:r>
              <a:rPr sz="1100" b="0">
                <a:solidFill>
                  <a:srgbClr val="8892B0"/>
                </a:solidFill>
                <a:latin typeface="Calibri"/>
              </a:rPr>
              <a:t># Soft morphological primitives</a:t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def soft_erode(x):   return -max_pool3d(-x, k=3, pad=1)   # min-pool</a:t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def soft_dilate(x):  return  max_pool3d( x, k=3, pad=1)   # max-pool</a:t>
            </a:r>
          </a:p>
          <a:p>
            <a:pPr algn="l"/>
            <a:r>
              <a:rPr sz="1100" b="0">
                <a:solidFill>
                  <a:srgbClr val="A8D8FF"/>
                </a:solidFill>
                <a:latin typeface="Calibri"/>
              </a:rPr>
              <a:t>def soft_open(x):    return soft_dilate(soft_erode(x))     # open = erode→dilate</a:t>
            </a:r>
          </a:p>
          <a:p>
            <a:pPr algn="l"/>
            <a:r>
              <a:rPr sz="7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8892B0"/>
                </a:solidFill>
                <a:latin typeface="Calibri"/>
              </a:rPr>
              <a:t># Iterative skeleton accumulation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skeleton = zeros_like(x)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current  = x.clone()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for _ in range(num_iter=10):</a:t>
            </a:r>
          </a:p>
          <a:p>
            <a:pPr algn="l"/>
            <a:r>
              <a:rPr sz="1100" b="0">
                <a:solidFill>
                  <a:srgbClr val="4DC9E6"/>
                </a:solidFill>
                <a:latin typeface="Calibri"/>
              </a:rPr>
              <a:t>    opened   = soft_open(current)           # remove thin structures</a:t>
            </a:r>
          </a:p>
          <a:p>
            <a:pPr algn="l"/>
            <a:r>
              <a:rPr sz="1100" b="1">
                <a:solidFill>
                  <a:srgbClr val="7C6AF7"/>
                </a:solidFill>
                <a:latin typeface="Calibri"/>
              </a:rPr>
              <a:t>    skeleton += ReLU(current - opened)      # residual = thin structures</a:t>
            </a:r>
          </a:p>
          <a:p>
            <a:pPr algn="l"/>
            <a:r>
              <a:rPr sz="1100" b="0">
                <a:solidFill>
                  <a:srgbClr val="4DC9E6"/>
                </a:solidFill>
                <a:latin typeface="Calibri"/>
              </a:rPr>
              <a:t>    current   = soft_erode(current)         # shrink further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return skeleton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51560"/>
            <a:ext cx="5577840" cy="2423160"/>
          </a:xfrm>
          <a:prstGeom prst="rect">
            <a:avLst/>
          </a:prstGeom>
          <a:solidFill>
            <a:srgbClr val="161B2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300" b="1">
                <a:solidFill>
                  <a:srgbClr val="7C6AF7"/>
                </a:solidFill>
                <a:latin typeface="Calibri"/>
              </a:rPr>
              <a:t>Algorithm Properties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Differentiable — gradients backpropagate through all pooling ops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GT skeleton computed with torch.no_grad() (no gradient needed)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num_iter=10 controls skeleton thickness (higher → captures thicker tubes)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Kernel size fixed at 3 (3×3×3 in 3D) — smallest meaningful structuring element</a:t>
            </a:r>
          </a:p>
          <a:p>
            <a:pPr algn="l"/>
            <a:r>
              <a:rPr sz="900" b="1">
                <a:solidFill>
                  <a:srgbClr val="7C6AF7"/>
                </a:solidFill>
                <a:latin typeface="Calibri"/>
              </a:rPr>
              <a:t>◆  </a:t>
            </a:r>
            <a:r>
              <a:rPr sz="1250">
                <a:solidFill>
                  <a:srgbClr val="E2E8F0"/>
                </a:solidFill>
                <a:latin typeface="Calibri"/>
              </a:rPr>
              <a:t>Memory: 10 × 2 pooling ops per class per batch  →  2 classes (AO+PA) = 40 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6576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DC9E6"/>
                </a:solidFill>
                <a:latin typeface="Calibri"/>
              </a:rPr>
              <a:t>How the skeleton accumulates across iterations: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023360"/>
            <a:ext cx="960120" cy="777240"/>
          </a:xfrm>
          <a:prstGeom prst="rect">
            <a:avLst/>
          </a:prstGeom>
          <a:solidFill>
            <a:srgbClr val="14182C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04164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D87A"/>
                </a:solidFill>
                <a:latin typeface="Calibri"/>
              </a:rPr>
              <a:t>iter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31596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B0"/>
                </a:solidFill>
                <a:latin typeface="Calibri"/>
              </a:rPr>
              <a:t>Full vessel 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224528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2048" y="4023360"/>
            <a:ext cx="960120" cy="777240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404164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C542"/>
                </a:solidFill>
                <a:latin typeface="Calibri"/>
              </a:rPr>
              <a:t>iter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431596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B0"/>
                </a:solidFill>
                <a:latin typeface="Calibri"/>
              </a:rPr>
              <a:t>Medial region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224528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4023360"/>
            <a:ext cx="960120" cy="777240"/>
          </a:xfrm>
          <a:prstGeom prst="rect">
            <a:avLst/>
          </a:prstGeom>
          <a:solidFill>
            <a:srgbClr val="14182C"/>
          </a:solidFill>
          <a:ln w="9525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404164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6A623"/>
                </a:solidFill>
                <a:latin typeface="Calibri"/>
              </a:rPr>
              <a:t>iter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431596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B0"/>
                </a:solidFill>
                <a:latin typeface="Calibri"/>
              </a:rPr>
              <a:t>Near centerline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4224528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73184" y="4023360"/>
            <a:ext cx="960120" cy="777240"/>
          </a:xfrm>
          <a:prstGeom prst="rect">
            <a:avLst/>
          </a:prstGeom>
          <a:solidFill>
            <a:srgbClr val="14182C"/>
          </a:solidFill>
          <a:ln w="9525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4" y="404164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56565"/>
                </a:solidFill>
                <a:latin typeface="Calibri"/>
              </a:rPr>
              <a:t>iter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431596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B0"/>
                </a:solidFill>
                <a:latin typeface="Calibri"/>
              </a:rPr>
              <a:t>Centerline voxels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3304" y="4224528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88752" y="4023360"/>
            <a:ext cx="960120" cy="777240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88752" y="4041648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C6AF7"/>
                </a:solidFill>
                <a:latin typeface="Calibri"/>
              </a:rPr>
              <a:t>∑ residuals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88752" y="431596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892B0"/>
                </a:solidFill>
                <a:latin typeface="Calibri"/>
              </a:rPr>
              <a:t>Soft skeleton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98348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alibri"/>
              </a:rPr>
              <a:t>Accumulating residuals across all iterations produces a soft approximation of the morphological skeleton — the set of centerline voxels equidistant from the vessel boundary.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Two Topology Mixin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Fixed weight (existing)  vs.  Scheduled weight (new)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3657600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51560"/>
            <a:ext cx="548640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C542"/>
                </a:solidFill>
                <a:latin typeface="Calibri"/>
              </a:rPr>
              <a:t>TopologyLossMixin  (existing, all current trainers)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Calibri"/>
              </a:rPr>
              <a:t>topo_weight   =  0.2   (constant)</a:t>
            </a:r>
          </a:p>
          <a:p>
            <a:pPr algn="l"/>
            <a:r>
              <a:rPr sz="1150" b="0">
                <a:solidFill>
                  <a:srgbClr val="8892B0"/>
                </a:solidFill>
                <a:latin typeface="Calibri"/>
              </a:rPr>
              <a:t>topo_num_iter =  10</a:t>
            </a:r>
          </a:p>
          <a:p>
            <a:pPr algn="l"/>
            <a:r>
              <a:rPr sz="1150" b="0">
                <a:solidFill>
                  <a:srgbClr val="8892B0"/>
                </a:solidFill>
                <a:latin typeface="Calibri"/>
              </a:rPr>
              <a:t>topo_class_ids = [6, 7]   (AO, PA)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5C542"/>
                </a:solidFill>
                <a:latin typeface="Calibri"/>
              </a:rPr>
              <a:t>Loss = Dice+CE + 0.2 × clDice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Applied from epoch 0 → topology loss active</a:t>
            </a:r>
          </a:p>
          <a:p>
            <a:pPr algn="l"/>
            <a:r>
              <a:rPr sz="1100" b="0">
                <a:solidFill>
                  <a:srgbClr val="E2E8F0"/>
                </a:solidFill>
                <a:latin typeface="Calibri"/>
              </a:rPr>
              <a:t>immediately, even when predictions are random.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5C542"/>
                </a:solidFill>
                <a:latin typeface="Calibri"/>
              </a:rPr>
              <a:t>⚠  Risk: topology term may interfere with</a:t>
            </a:r>
          </a:p>
          <a:p>
            <a:pPr algn="l"/>
            <a:r>
              <a:rPr sz="1100" b="0">
                <a:solidFill>
                  <a:srgbClr val="F5C542"/>
                </a:solidFill>
                <a:latin typeface="Calibri"/>
              </a:rPr>
              <a:t>    Dice+CE convergence in early epochs.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51560"/>
            <a:ext cx="5669280" cy="3657600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051560"/>
            <a:ext cx="566928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15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C6AF7"/>
                </a:solidFill>
                <a:latin typeface="Calibri"/>
              </a:rPr>
              <a:t>TopologyLossScheduledMixin  (new)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topo_warmup_epochs  =  10   (0 → w_high ramp)</a:t>
            </a:r>
          </a:p>
          <a:p>
            <a:pPr algn="l"/>
            <a:r>
              <a:rPr sz="1150" b="0">
                <a:solidFill>
                  <a:srgbClr val="E2E8F0"/>
                </a:solidFill>
                <a:latin typeface="Calibri"/>
              </a:rPr>
              <a:t>topo_decay_start    =  40   (plateau ends)</a:t>
            </a:r>
          </a:p>
          <a:p>
            <a:pPr algn="l"/>
            <a:r>
              <a:rPr sz="1150" b="1">
                <a:solidFill>
                  <a:srgbClr val="7C6AF7"/>
                </a:solidFill>
                <a:latin typeface="Calibri"/>
              </a:rPr>
              <a:t>topo_w_high         =  0.5  (peak weight)</a:t>
            </a:r>
          </a:p>
          <a:p>
            <a:pPr algn="l"/>
            <a:r>
              <a:rPr sz="1150" b="0">
                <a:solidFill>
                  <a:srgbClr val="8892B0"/>
                </a:solidFill>
                <a:latin typeface="Calibri"/>
              </a:rPr>
              <a:t>topo_w_low          =  0.05 (final weight)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22D87A"/>
                </a:solidFill>
                <a:latin typeface="Calibri"/>
              </a:rPr>
              <a:t>Epoch  0–9 :  linear ramp  0.0 → 0.5</a:t>
            </a:r>
          </a:p>
          <a:p>
            <a:pPr algn="l"/>
            <a:r>
              <a:rPr sz="1100" b="0">
                <a:solidFill>
                  <a:srgbClr val="4DC9E6"/>
                </a:solidFill>
                <a:latin typeface="Calibri"/>
              </a:rPr>
              <a:t>Epoch 10–39:  plateau at   0.5</a:t>
            </a:r>
          </a:p>
          <a:p>
            <a:pPr algn="l"/>
            <a:r>
              <a:rPr sz="1100" b="0">
                <a:solidFill>
                  <a:srgbClr val="F5C542"/>
                </a:solidFill>
                <a:latin typeface="Calibri"/>
              </a:rPr>
              <a:t>Epoch 40–99:  cosine decay 0.5 → 0.05</a:t>
            </a:r>
          </a:p>
          <a:p>
            <a:pPr algn="l"/>
            <a:r>
              <a:rPr sz="600" b="0">
                <a:solidFill>
                  <a:srgbClr val="E2E8F0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22D87A"/>
                </a:solidFill>
                <a:latin typeface="Calibri"/>
              </a:rPr>
              <a:t>✓  Dice+CE converges first (epochs 0-9)</a:t>
            </a:r>
          </a:p>
          <a:p>
            <a:pPr algn="l"/>
            <a:r>
              <a:rPr sz="1100" b="0">
                <a:solidFill>
                  <a:srgbClr val="22D87A"/>
                </a:solidFill>
                <a:latin typeface="Calibri"/>
              </a:rPr>
              <a:t>✓  Topology enforced at peak (epoch 10-39)</a:t>
            </a:r>
          </a:p>
          <a:p>
            <a:pPr algn="l"/>
            <a:r>
              <a:rPr sz="1100" b="0">
                <a:solidFill>
                  <a:srgbClr val="22D87A"/>
                </a:solidFill>
                <a:latin typeface="Calibri"/>
              </a:rPr>
              <a:t>✓  Gentle decay prevents over-constraint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Weight schedule over 100 epochs: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685800" cy="457200"/>
          </a:xfrm>
          <a:prstGeom prst="rect">
            <a:avLst/>
          </a:prstGeom>
          <a:solidFill>
            <a:srgbClr val="14182C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230368"/>
            <a:ext cx="685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2D87A"/>
                </a:solidFill>
                <a:latin typeface="Calibri"/>
              </a:rPr>
              <a:t>Warmup
(0→10)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8" y="5212080"/>
            <a:ext cx="1691640" cy="457200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5230368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DC9E6"/>
                </a:solidFill>
                <a:latin typeface="Calibri"/>
              </a:rPr>
              <a:t>Plateau
(10→40)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71216" y="5212080"/>
            <a:ext cx="2798064" cy="457200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5230368"/>
            <a:ext cx="279806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42"/>
                </a:solidFill>
                <a:latin typeface="Calibri"/>
              </a:rPr>
              <a:t>Cosine Decay
(40→100)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742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←─────────────────── 100 epochs ───────────────────→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892040"/>
            <a:ext cx="5669280" cy="1143000"/>
          </a:xfrm>
          <a:prstGeom prst="rect">
            <a:avLst/>
          </a:prstGeom>
          <a:solidFill>
            <a:srgbClr val="16122E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95604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alibri"/>
              </a:rPr>
              <a:t>Both mixins share the same mixin_extra_loss() implementation (inherited from TopologyLossMixin). TopologyLossScheduledMixin only adds mixin_on_train_epoch_start() to update self.topo_weight each epoch using topo_weight_schedule().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Composable Mixin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Feature modules stack via Python MRO — no monolithic subclassing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Available Mixins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943600" cy="502920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DC9E6"/>
                </a:solidFill>
                <a:latin typeface="Courier New"/>
              </a:rPr>
              <a:t>DiseaseConditioningMixin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Injects disease vector via FiLM or MLP wrapper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56816"/>
            <a:ext cx="5943600" cy="502920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6AF7"/>
                </a:solidFill>
                <a:latin typeface="Courier New"/>
              </a:rPr>
              <a:t>TopologyLossMixin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Adds soft-clDice on AO/PA  (fixed weight 0.2)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23744"/>
            <a:ext cx="5943600" cy="502920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6AF7"/>
                </a:solidFill>
                <a:latin typeface="Courier New"/>
              </a:rPr>
              <a:t>TopologyLossScheduledMixin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7977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Like above but with warmup→plateau→decay schedule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90672"/>
            <a:ext cx="5943600" cy="502920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C542"/>
                </a:solidFill>
                <a:latin typeface="Courier New"/>
              </a:rPr>
              <a:t>CurriculumWeightsMixin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4670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Per-class CE weights that evolve during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6732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Hook Dispatch Chain  (each mixin calls super())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2423160" cy="347472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96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9E6"/>
                </a:solidFill>
                <a:latin typeface="Courier New"/>
              </a:rPr>
              <a:t>mixin_init()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18795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Set mixin-specific __init__ attributes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98848"/>
            <a:ext cx="2423160" cy="347472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53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9E6"/>
                </a:solidFill>
                <a:latin typeface="Courier New"/>
              </a:rPr>
              <a:t>mixin_initialize()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720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Post-setup: allocate GPU objects, resolve labels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82896"/>
            <a:ext cx="2423160" cy="347472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9E6"/>
                </a:solidFill>
                <a:latin typeface="Courier New"/>
              </a:rPr>
              <a:t>mixin_extra_loss(...)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95604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Return extra loss scalar to add to main loss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66944"/>
            <a:ext cx="2423160" cy="347472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3218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9E6"/>
                </a:solidFill>
                <a:latin typeface="Courier New"/>
              </a:rPr>
              <a:t>mixin_param_groups()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34009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Extra optimizer param groups with custom LR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50992"/>
            <a:ext cx="2423160" cy="347472"/>
          </a:xfrm>
          <a:prstGeom prst="rect">
            <a:avLst/>
          </a:prstGeom>
          <a:solidFill>
            <a:srgbClr val="1C2133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0585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9E6"/>
                </a:solidFill>
                <a:latin typeface="Courier New"/>
              </a:rPr>
              <a:t>mixin_on_train_epoch_start()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7241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Per-epoch setup (update schedules, etc.)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10515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Example MRO Chains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417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alibri"/>
              </a:rPr>
              <a:t>DA5CascadeFiLMTopo  (low-res)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1719072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173736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DC9E6"/>
                </a:solidFill>
                <a:latin typeface="Calibri"/>
              </a:rPr>
              <a:t>DiseaseConditioning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1764792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71232" y="1719072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98664" y="173736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4DC9E6"/>
                </a:solidFill>
                <a:latin typeface="Calibri"/>
              </a:rPr>
              <a:t>TopologyLoss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1764792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50224" y="1719072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77656" y="173736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ComposableTrainer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1764792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29216" y="1719072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173736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DA5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53344" y="1764792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808208" y="1719072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35640" y="1737360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Trainer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6791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C6AF7"/>
                </a:solidFill>
                <a:latin typeface="Calibri"/>
              </a:rPr>
              <a:t>DA5CascadeFullresFiLMTopo  (NEW fixed)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2980944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9672" y="299923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C6AF7"/>
                </a:solidFill>
                <a:latin typeface="Calibri"/>
              </a:rPr>
              <a:t>DiseaseConditioning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16368" y="3026664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71232" y="2980944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98664" y="299923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C6AF7"/>
                </a:solidFill>
                <a:latin typeface="Calibri"/>
              </a:rPr>
              <a:t>TopologyLoss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95360" y="3026664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50224" y="2980944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77656" y="299923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ComposableTrainer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74352" y="3026664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29216" y="2980944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6648" y="299923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DA5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53344" y="3026664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08208" y="2980944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35640" y="299923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Trainer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39410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D87A"/>
                </a:solidFill>
                <a:latin typeface="Calibri"/>
              </a:rPr>
              <a:t>DA5CascadeTopoScheduled  (NEW)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92240" y="4242816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19672" y="4261104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2D87A"/>
                </a:solidFill>
                <a:latin typeface="Calibri"/>
              </a:rPr>
              <a:t>TopologyLossScheduled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16368" y="4288536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71232" y="4242816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98664" y="4261104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2D87A"/>
                </a:solidFill>
                <a:latin typeface="Calibri"/>
              </a:rPr>
              <a:t>TopologyLoss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95360" y="4288536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650224" y="4242816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77656" y="4261104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ComposableTrainer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74352" y="4288536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29216" y="4242816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756648" y="4261104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DA5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753344" y="4288536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808208" y="4242816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835640" y="4261104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Trainer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92240" y="52029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42"/>
                </a:solidFill>
                <a:latin typeface="Calibri"/>
              </a:rPr>
              <a:t>DA5FiLMTopoCurriculum  (full-res)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92240" y="5504688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19672" y="552297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C542"/>
                </a:solidFill>
                <a:latin typeface="Calibri"/>
              </a:rPr>
              <a:t>DiseaseConditioning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16368" y="5550408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71232" y="5504688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98664" y="552297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5C542"/>
                </a:solidFill>
                <a:latin typeface="Calibri"/>
              </a:rPr>
              <a:t>TopologyLoss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95360" y="5550408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50224" y="5504688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77656" y="552297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CurriculumWeights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74352" y="5550408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729216" y="5504688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56648" y="552297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ComposableTrainer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53344" y="5550408"/>
            <a:ext cx="45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4462"/>
                </a:solidFill>
                <a:latin typeface="Calibri"/>
              </a:rPr>
              <a:t>→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808208" y="5504688"/>
            <a:ext cx="1024128" cy="32918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835640" y="5522976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892B0"/>
                </a:solidFill>
                <a:latin typeface="Calibri"/>
              </a:rPr>
              <a:t>DA5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Trainer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All 22 composed trainers — low-res, full-res, cascade-fullres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94760" cy="347472"/>
          </a:xfrm>
          <a:prstGeom prst="rect">
            <a:avLst/>
          </a:prstGeom>
          <a:solidFill>
            <a:srgbClr val="14182C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DC9E6"/>
                </a:solidFill>
                <a:latin typeface="Calibri"/>
              </a:rPr>
              <a:t>Full-Res (3d_fullres)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53896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nnUNetTrainerDA5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08760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53619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5623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78024"/>
            <a:ext cx="3794760" cy="960120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3288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DA5FiLMV3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532888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56032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8803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 bottleneck (K=8)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20040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02152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557016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DA5FiLMTopo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557016"/>
            <a:ext cx="804672" cy="237744"/>
          </a:xfrm>
          <a:prstGeom prst="rect">
            <a:avLst/>
          </a:prstGeom>
          <a:solidFill>
            <a:srgbClr val="31270D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46120" y="358444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C542"/>
                </a:solidFill>
                <a:latin typeface="Calibri"/>
              </a:rPr>
              <a:t>Untested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9044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 + clDice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22452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26280"/>
            <a:ext cx="3794760" cy="960120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581144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DA5TopoScheduled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4581144"/>
            <a:ext cx="804672" cy="237744"/>
          </a:xfrm>
          <a:prstGeom prst="rect">
            <a:avLst/>
          </a:prstGeom>
          <a:solidFill>
            <a:srgbClr val="181531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460857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C6AF7"/>
                </a:solidFill>
                <a:latin typeface="Calibri"/>
              </a:rPr>
              <a:t>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92861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clDice (scheduled)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24865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550408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605272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DA5FiLMTopoCurriculum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5605272"/>
            <a:ext cx="804672" cy="237744"/>
          </a:xfrm>
          <a:prstGeom prst="rect">
            <a:avLst/>
          </a:prstGeom>
          <a:solidFill>
            <a:srgbClr val="31270D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563270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C542"/>
                </a:solidFill>
                <a:latin typeface="Calibri"/>
              </a:rPr>
              <a:t>Untested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95274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 + clDice + Curriculum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27278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051560"/>
            <a:ext cx="3794760" cy="347472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109728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42"/>
                </a:solidFill>
                <a:latin typeface="Calibri"/>
              </a:rPr>
              <a:t>Low-Res / Cascade Stage 1 (3d_lowres)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1453896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150876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DA5CascadeFiLM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1508760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153619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185623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2176272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2478024"/>
            <a:ext cx="3794760" cy="960120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253288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DA5CascadeTopo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23760" y="2532888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256032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8803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clDice (fixed)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320040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3502152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3557016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DA5CascadeFiLMTopo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23760" y="3557016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358444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9044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 + clDice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422452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4526280"/>
            <a:ext cx="3794760" cy="960120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0" y="4581144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DA5CascadeTopoScheduled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4581144"/>
            <a:ext cx="804672" cy="237744"/>
          </a:xfrm>
          <a:prstGeom prst="rect">
            <a:avLst/>
          </a:prstGeom>
          <a:solidFill>
            <a:srgbClr val="181531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460857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C6AF7"/>
                </a:solidFill>
                <a:latin typeface="Calibri"/>
              </a:rPr>
              <a:t>New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492861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clDice (scheduled)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524865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0" y="5550408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5605272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DA5CascadeFiLMAdjacency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23760" y="5605272"/>
            <a:ext cx="804672" cy="237744"/>
          </a:xfrm>
          <a:prstGeom prst="rect">
            <a:avLst/>
          </a:prstGeom>
          <a:solidFill>
            <a:srgbClr val="311414"/>
          </a:solidFill>
          <a:ln w="9525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23760" y="563270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56565"/>
                </a:solidFill>
                <a:latin typeface="Calibri"/>
              </a:rPr>
              <a:t>Pending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9120" y="595274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 + adjacency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89120" y="627278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20" y="1051560"/>
            <a:ext cx="3794760" cy="347472"/>
          </a:xfrm>
          <a:prstGeom prst="rect">
            <a:avLst/>
          </a:prstGeom>
          <a:solidFill>
            <a:srgbClr val="14182C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6760" y="109728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6AF7"/>
                </a:solidFill>
                <a:latin typeface="Calibri"/>
              </a:rPr>
              <a:t>High-Res / Cascade Stage 2 (3d_cascade_fullres)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1453896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66760" y="1508760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DA5CascadeFullresBaseline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201400" y="1508760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01400" y="153619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66760" y="1856232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only (name wrapper)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2176272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20" y="2478024"/>
            <a:ext cx="3794760" cy="960120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2532888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DA5CascadeFullresFiLM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201400" y="2532888"/>
            <a:ext cx="804672" cy="237744"/>
          </a:xfrm>
          <a:prstGeom prst="rect">
            <a:avLst/>
          </a:prstGeom>
          <a:solidFill>
            <a:srgbClr val="062B18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01400" y="256032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D87A"/>
                </a:solidFill>
                <a:latin typeface="Calibri"/>
              </a:rPr>
              <a:t>Working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60" y="288036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66760" y="3200400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3502152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66760" y="3557016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DA5CascadeFullresTopo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201400" y="3557016"/>
            <a:ext cx="804672" cy="237744"/>
          </a:xfrm>
          <a:prstGeom prst="rect">
            <a:avLst/>
          </a:prstGeom>
          <a:solidFill>
            <a:srgbClr val="0F282E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01400" y="358444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DC9E6"/>
                </a:solidFill>
                <a:latin typeface="Calibri"/>
              </a:rPr>
              <a:t>Fixed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66760" y="3904488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clDice  ← FIXED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66760" y="4224528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75320" y="4526280"/>
            <a:ext cx="3794760" cy="960120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366760" y="4581144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DA5CascadeFullresFiLMTopo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201400" y="4581144"/>
            <a:ext cx="804672" cy="237744"/>
          </a:xfrm>
          <a:prstGeom prst="rect">
            <a:avLst/>
          </a:prstGeom>
          <a:solidFill>
            <a:srgbClr val="0F282E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201400" y="460857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DC9E6"/>
                </a:solidFill>
                <a:latin typeface="Calibri"/>
              </a:rPr>
              <a:t>Fixed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366760" y="4928616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FiLM + clDice  ← FIXED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66760" y="5248656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75320" y="5550408"/>
            <a:ext cx="3794760" cy="960120"/>
          </a:xfrm>
          <a:prstGeom prst="rect">
            <a:avLst/>
          </a:prstGeom>
          <a:solidFill>
            <a:srgbClr val="121626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66760" y="5605272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DC9E6"/>
                </a:solidFill>
                <a:latin typeface="Courier New"/>
              </a:rPr>
              <a:t>DA5CascadeFullresTopoScheduled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1201400" y="5605272"/>
            <a:ext cx="804672" cy="237744"/>
          </a:xfrm>
          <a:prstGeom prst="rect">
            <a:avLst/>
          </a:prstGeom>
          <a:solidFill>
            <a:srgbClr val="181531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01400" y="563270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C6AF7"/>
                </a:solidFill>
                <a:latin typeface="Calibri"/>
              </a:rPr>
              <a:t>New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366760" y="5952744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DA5 + clDice (scheduled)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66760" y="6272784"/>
            <a:ext cx="3611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4462"/>
                </a:solidFill>
                <a:latin typeface="Calibri"/>
              </a:rPr>
              <a:t>_100epochs variant available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Cascade Ablation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Systematic comparison of FiLM conditioning × topology loss at low-res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41148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Exp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051560"/>
            <a:ext cx="320040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Low-res trainer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051560"/>
            <a:ext cx="320040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143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High-res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051560"/>
            <a:ext cx="59436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11430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FiLM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1051560"/>
            <a:ext cx="73152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1143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Topo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051560"/>
            <a:ext cx="91440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143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Mean Dice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1051560"/>
            <a:ext cx="91440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143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AO Dice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87000" y="1051560"/>
            <a:ext cx="914400" cy="493776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1143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6AF7"/>
                </a:solidFill>
                <a:latin typeface="Calibri"/>
              </a:rPr>
              <a:t>PA Dice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600200"/>
            <a:ext cx="411480" cy="512064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1709928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1600200"/>
            <a:ext cx="3200400" cy="512064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170992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DC9E6"/>
                </a:solidFill>
                <a:latin typeface="Calibri"/>
              </a:rPr>
              <a:t>nnUNetTrainerDA5_100epochs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1600200"/>
            <a:ext cx="3200400" cy="512064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8496" y="170992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DA5CascadeFullresBaseline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1600200"/>
            <a:ext cx="594360" cy="512064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8896" y="170992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6565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1600200"/>
            <a:ext cx="731520" cy="512064"/>
          </a:xfrm>
          <a:prstGeom prst="rect">
            <a:avLst/>
          </a:prstGeom>
          <a:solidFill>
            <a:srgbClr val="0D1117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63256" y="170992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6565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200" y="160020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94776" y="170992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160020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9176" y="170992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7000" y="160020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23576" y="170992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148840"/>
            <a:ext cx="411480" cy="512064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2258568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214884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225856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DC9E6"/>
                </a:solidFill>
                <a:latin typeface="Calibri"/>
              </a:rPr>
              <a:t>DA5CascadeFiLM_100epochs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214884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68496" y="225856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DA5CascadeFullresFiLM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2148840"/>
            <a:ext cx="594360" cy="512064"/>
          </a:xfrm>
          <a:prstGeom prst="rect">
            <a:avLst/>
          </a:prstGeom>
          <a:solidFill>
            <a:srgbClr val="14222A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68896" y="225856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80" y="2148840"/>
            <a:ext cx="73152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63256" y="22585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6565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8200" y="214884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94776" y="225856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214884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09176" y="225856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87000" y="214884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23576" y="225856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2697480"/>
            <a:ext cx="411480" cy="512064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6" y="2807208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269748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" y="280720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DC9E6"/>
                </a:solidFill>
                <a:latin typeface="Calibri"/>
              </a:rPr>
              <a:t>DA5CascadeFiLMTopo_100epochs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269748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68496" y="280720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DA5CascadeFullresFiLM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32320" y="2697480"/>
            <a:ext cx="594360" cy="512064"/>
          </a:xfrm>
          <a:prstGeom prst="rect">
            <a:avLst/>
          </a:prstGeom>
          <a:solidFill>
            <a:srgbClr val="14222A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68896" y="280720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80" y="2697480"/>
            <a:ext cx="731520" cy="512064"/>
          </a:xfrm>
          <a:prstGeom prst="rect">
            <a:avLst/>
          </a:prstGeom>
          <a:solidFill>
            <a:srgbClr val="1A143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63256" y="280720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269748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4776" y="280720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372600" y="269748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09176" y="280720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87000" y="269748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23576" y="280720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246120"/>
            <a:ext cx="411480" cy="512064"/>
          </a:xfrm>
          <a:prstGeom prst="rect">
            <a:avLst/>
          </a:prstGeom>
          <a:solidFill>
            <a:srgbClr val="20224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6616" y="3355848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" y="324612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" y="335584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DC9E6"/>
                </a:solidFill>
                <a:latin typeface="Calibri"/>
              </a:rPr>
              <a:t>DA5CascadeTopo_100epochs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31920" y="324612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68496" y="335584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DA5CascadeFullresTopo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32320" y="3246120"/>
            <a:ext cx="59436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68896" y="335584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6565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26680" y="3246120"/>
            <a:ext cx="731520" cy="512064"/>
          </a:xfrm>
          <a:prstGeom prst="rect">
            <a:avLst/>
          </a:prstGeom>
          <a:solidFill>
            <a:srgbClr val="1A143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63256" y="335584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58200" y="324612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94776" y="335584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372600" y="324612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09176" y="335584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287000" y="324612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23576" y="335584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3794760"/>
            <a:ext cx="411480" cy="512064"/>
          </a:xfrm>
          <a:prstGeom prst="rect">
            <a:avLst/>
          </a:prstGeom>
          <a:solidFill>
            <a:srgbClr val="202240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56616" y="3904488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B+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3794760"/>
            <a:ext cx="3200400" cy="512064"/>
          </a:xfrm>
          <a:prstGeom prst="rect">
            <a:avLst/>
          </a:prstGeom>
          <a:solidFill>
            <a:srgbClr val="1614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8096" y="390448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DC9E6"/>
                </a:solidFill>
                <a:latin typeface="Calibri"/>
              </a:rPr>
              <a:t>DA5CascadeFiLMTopo_100epochs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931920" y="3794760"/>
            <a:ext cx="3200400" cy="512064"/>
          </a:xfrm>
          <a:prstGeom prst="rect">
            <a:avLst/>
          </a:prstGeom>
          <a:solidFill>
            <a:srgbClr val="1614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968496" y="390448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DA5CascadeFullresFiLMTopo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32320" y="3794760"/>
            <a:ext cx="594360" cy="512064"/>
          </a:xfrm>
          <a:prstGeom prst="rect">
            <a:avLst/>
          </a:prstGeom>
          <a:solidFill>
            <a:srgbClr val="14222A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68896" y="390448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26680" y="3794760"/>
            <a:ext cx="731520" cy="512064"/>
          </a:xfrm>
          <a:prstGeom prst="rect">
            <a:avLst/>
          </a:prstGeom>
          <a:solidFill>
            <a:srgbClr val="1A143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63256" y="390448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458200" y="379476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94776" y="390448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372600" y="379476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09176" y="390448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287000" y="379476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323576" y="390448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20040" y="4343400"/>
            <a:ext cx="411480" cy="512064"/>
          </a:xfrm>
          <a:prstGeom prst="rect">
            <a:avLst/>
          </a:prstGeom>
          <a:solidFill>
            <a:srgbClr val="202240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6616" y="4453128"/>
            <a:ext cx="338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2E8F0"/>
                </a:solidFill>
                <a:latin typeface="Calibri"/>
              </a:rPr>
              <a:t>D-S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31520" y="434340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68096" y="445312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DC9E6"/>
                </a:solidFill>
                <a:latin typeface="Calibri"/>
              </a:rPr>
              <a:t>DA5CascadeTopoScheduled_100epochs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31920" y="4343400"/>
            <a:ext cx="320040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68496" y="4453128"/>
            <a:ext cx="3127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892B0"/>
                </a:solidFill>
                <a:latin typeface="Calibri"/>
              </a:rPr>
              <a:t>DA5CascadeFullresTopoScheduled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132320" y="4343400"/>
            <a:ext cx="594360" cy="512064"/>
          </a:xfrm>
          <a:prstGeom prst="rect">
            <a:avLst/>
          </a:prstGeom>
          <a:solidFill>
            <a:srgbClr val="14182C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168896" y="4453128"/>
            <a:ext cx="521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6565"/>
                </a:solidFill>
                <a:latin typeface="Calibri"/>
              </a:rPr>
              <a:t>—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26680" y="4343400"/>
            <a:ext cx="731520" cy="512064"/>
          </a:xfrm>
          <a:prstGeom prst="rect">
            <a:avLst/>
          </a:prstGeom>
          <a:solidFill>
            <a:srgbClr val="1A1430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63256" y="445312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D87A"/>
                </a:solidFill>
                <a:latin typeface="Calibri"/>
              </a:rPr>
              <a:t>✓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458200" y="434340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94776" y="445312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72600" y="434340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09176" y="445312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287000" y="4343400"/>
            <a:ext cx="914400" cy="512064"/>
          </a:xfrm>
          <a:prstGeom prst="rect">
            <a:avLst/>
          </a:prstGeom>
          <a:solidFill>
            <a:srgbClr val="141A14"/>
          </a:solidFill>
          <a:ln w="9525">
            <a:solidFill>
              <a:srgbClr val="2C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323576" y="4453128"/>
            <a:ext cx="8412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42"/>
                </a:solidFill>
                <a:latin typeface="Calibri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0040" y="5166360"/>
            <a:ext cx="146304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8" y="51572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NEW/FIXED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8840" y="5166360"/>
            <a:ext cx="146304" cy="146304"/>
          </a:xfrm>
          <a:prstGeom prst="rect">
            <a:avLst/>
          </a:prstGeom>
          <a:solidFill>
            <a:srgbClr val="22D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350008" y="51572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FiLM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977640" y="5166360"/>
            <a:ext cx="146304" cy="14630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78808" y="51572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Topo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06440" y="5166360"/>
            <a:ext cx="146304" cy="14630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007608" y="51572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2B0"/>
                </a:solidFill>
                <a:latin typeface="Calibri"/>
              </a:rPr>
              <a:t>Results TBD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0040" y="55321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alibri"/>
              </a:rPr>
              <a:t>B+ and D-S use the newly fixed/created high-res trainers that actually apply topology loss at both stages.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20040" y="58978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alibri"/>
              </a:rPr>
              <a:t>All 100-epoch variants. Use scripts/setup_cascade_predictions.py to create lowres prediction symlinks before training stage 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Contributions — This Implementation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Three changes to the codebase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1521440" cy="1737360"/>
          </a:xfrm>
          <a:prstGeom prst="rect">
            <a:avLst/>
          </a:prstGeom>
          <a:solidFill>
            <a:srgbClr val="121626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11521440" cy="36576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457200" cy="45720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338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1704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7C6AF7"/>
                </a:solidFill>
                <a:latin typeface="Calibri"/>
              </a:rPr>
              <a:t>TopologyLossScheduledMixin  —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361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ourier New"/>
              </a:rPr>
              <a:t>variants/mixins/topology_loss.py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8288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Subclasses TopologyLossMixin — inherits all clDice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Adds mixin_on_train_epoch_start() to update self.topo_weight each epoch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414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Uses existing topo_weight_schedule() function (was previously unused)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Schedule: warmup=10 epochs, plateau → decay from epoch 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214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Peak weight 0.5 (vs fixed 0.2) — more aggressive topology enforcement at plateau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140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All schedule params overridable as class attributes in thin subclasses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889504"/>
            <a:ext cx="11521440" cy="1737360"/>
          </a:xfrm>
          <a:prstGeom prst="rect">
            <a:avLst/>
          </a:prstGeom>
          <a:solidFill>
            <a:srgbClr val="121626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889504"/>
            <a:ext cx="11521440" cy="36576"/>
          </a:xfrm>
          <a:prstGeom prst="rect">
            <a:avLst/>
          </a:prstGeom>
          <a:solidFill>
            <a:srgbClr val="4DC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89504"/>
            <a:ext cx="457200" cy="457200"/>
          </a:xfrm>
          <a:prstGeom prst="rect">
            <a:avLst/>
          </a:prstGeom>
          <a:solidFill>
            <a:srgbClr val="4DC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9443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809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DC9E6"/>
                </a:solidFill>
                <a:latin typeface="Calibri"/>
              </a:rPr>
              <a:t>Fixed high-res cascade topology trainers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467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ourier New"/>
              </a:rPr>
              <a:t>composed/nnUNetTrainerDA5CascadeFullresVariants.py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6393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DA5CascadeFullresTopo was previously a name-only wrapper around plain DA5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DA5CascadeFullresFiLMTopo was FiLM-only — topology was silently 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245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Both now properly use TopologyLossMixin at the high-res stage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6393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Enables end-to-end topology enforcement: low-res (global) + high-res (local)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9319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⚠  Checkpoints from previous runs with these names are incompatible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00016"/>
            <a:ext cx="11521440" cy="1737360"/>
          </a:xfrm>
          <a:prstGeom prst="rect">
            <a:avLst/>
          </a:prstGeom>
          <a:solidFill>
            <a:srgbClr val="121626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700016"/>
            <a:ext cx="11521440" cy="36576"/>
          </a:xfrm>
          <a:prstGeom prst="rect">
            <a:avLst/>
          </a:prstGeom>
          <a:solidFill>
            <a:srgbClr val="22D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700016"/>
            <a:ext cx="457200" cy="457200"/>
          </a:xfrm>
          <a:prstGeom prst="rect">
            <a:avLst/>
          </a:prstGeom>
          <a:solidFill>
            <a:srgbClr val="22D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7548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9145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22D87A"/>
                </a:solidFill>
                <a:latin typeface="Calibri"/>
              </a:rPr>
              <a:t>New scheduled topology composed trainers  — NEW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1572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92B0"/>
                </a:solidFill>
                <a:latin typeface="Courier New"/>
              </a:rPr>
              <a:t>composed/nnUNetTrainerDA5TopoScheduled.py  (new file)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4498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DA5TopoScheduled(_100epochs) — full-res with scheduled clDice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424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DA5CascadeTopoScheduled(_100epochs) — low-res cascade with scheduled clDice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035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DA5CascadeFullresTopoScheduled(_100epochs) — high-res cascade with scheduled clDice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4498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All follow the same thin composed trainer pattern (~10 lines each)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7424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◆  Pair DA5CascadeTopoScheduled (low-res) + DA5CascadeFullresTopoScheduled (high-res)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Open Questions &amp;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Items to validate before drawing conclusions from experiment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71500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02920" cy="3840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15214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  <a:latin typeface="Calibri"/>
              </a:rPr>
              <a:t>Does FiLM actually learn?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53619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Monitor bottleneck_film.weight.abs().mean() during training.
γ should diverge from 0 after first few epochs.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32304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32304"/>
            <a:ext cx="571500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32304"/>
            <a:ext cx="502920" cy="3840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4688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25054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  <a:latin typeface="Calibri"/>
              </a:rPr>
              <a:t>clDice at high-res: local vs global?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889504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High-res patches cover only part of AO/PA.
Truncated skeleton may give degraded clDice signal.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85616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85616"/>
            <a:ext cx="571500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785616"/>
            <a:ext cx="502920" cy="384048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82219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858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Calibri"/>
              </a:rPr>
              <a:t>Is topo_w_high = 0.5 too aggressive?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4242816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Peak weight 0.5 gives topology ~33% of total gradient.
Monitor training loss curves on first scheduled run.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38928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138928"/>
            <a:ext cx="571500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38928"/>
            <a:ext cx="502920" cy="3840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1755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52120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  <a:latin typeface="Calibri"/>
              </a:rPr>
              <a:t>Memory cost of 10 skeleton iters in 3D?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55961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20 pooling ops per batch (2 classes × 10 iters).
Consider num_iter=5 if GPU memory is constrained.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078992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078992"/>
            <a:ext cx="5715000" cy="36576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1078992"/>
            <a:ext cx="502920" cy="384048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115568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1152144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6565"/>
                </a:solidFill>
                <a:latin typeface="Calibri"/>
              </a:rPr>
              <a:t>HLHS / PuA edge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1536192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Absent/fused vessels → near-empty GT skeleton.
Topology loss may mis-penalise correct empty predictions.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432304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2432304"/>
            <a:ext cx="571500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2432304"/>
            <a:ext cx="502920" cy="3840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468880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250545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  <a:latin typeface="Calibri"/>
              </a:rPr>
              <a:t>Cascade symlink script coverage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89504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setup_cascade_predictions.py must handle all new
trainer name combos (Topo, FiLMTopo, TopoScheduled).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785616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785616"/>
            <a:ext cx="5715000" cy="36576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3785616"/>
            <a:ext cx="502920" cy="384048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822192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38587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42"/>
                </a:solidFill>
                <a:latin typeface="Calibri"/>
              </a:rPr>
              <a:t>disease_map.json at cascade-fullres inference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242816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FiLM at high-res stage needs disease vec at inference.
Verify predict_disease_conditioned.py handles cascade.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138928"/>
            <a:ext cx="5715000" cy="1261872"/>
          </a:xfrm>
          <a:prstGeom prst="rect">
            <a:avLst/>
          </a:prstGeom>
          <a:solidFill>
            <a:srgbClr val="14182C"/>
          </a:solidFill>
          <a:ln w="9525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5138928"/>
            <a:ext cx="5715000" cy="36576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5138928"/>
            <a:ext cx="502920" cy="384048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175504"/>
            <a:ext cx="50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alibri"/>
              </a:rPr>
              <a:t>Q8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521208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6A623"/>
                </a:solidFill>
                <a:latin typeface="Calibri"/>
              </a:rPr>
              <a:t>DA5 augmentation for cardiac 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55961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92B0"/>
                </a:solidFill>
                <a:latin typeface="Calibri"/>
              </a:rPr>
              <a:t>Aggressive deformation may be unrealistic for rigid
cardiac structures. Compare DA5 vs default augmentation.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8F0"/>
                </a:solidFill>
                <a:latin typeface="Calibri"/>
              </a:rP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2B0"/>
                </a:solidFill>
                <a:latin typeface="Calibri"/>
              </a:rPr>
              <a:t>Extensions to explore once training protocol is validated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1183112" cy="18288"/>
          </a:xfrm>
          <a:prstGeom prst="rect">
            <a:avLst/>
          </a:prstGeom>
          <a:solidFill>
            <a:srgbClr val="2C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74552" y="653796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C4462"/>
                </a:solidFill>
                <a:latin typeface="Calibri"/>
              </a:rPr>
              <a:t>14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3794760" cy="2240280"/>
          </a:xfrm>
          <a:prstGeom prst="rect">
            <a:avLst/>
          </a:prstGeom>
          <a:solidFill>
            <a:srgbClr val="121626"/>
          </a:solidFill>
          <a:ln w="9525">
            <a:solidFill>
              <a:srgbClr val="7C6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3794760" cy="45720"/>
          </a:xfrm>
          <a:prstGeom prst="rect">
            <a:avLst/>
          </a:prstGeom>
          <a:solidFill>
            <a:srgbClr val="7C6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6AF7"/>
                </a:solidFill>
                <a:latin typeface="Calibri"/>
              </a:rPr>
              <a:t>Per-Disease Topology Exclusion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9344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TopologyLossConditionalMixin: disable clDice for HLHS (flag 0) and PuA (flag 5) cases where AO/PA are absent. Reads disease vector from batch to gate the loss.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078992"/>
            <a:ext cx="3794760" cy="2240280"/>
          </a:xfrm>
          <a:prstGeom prst="rect">
            <a:avLst/>
          </a:prstGeom>
          <a:solidFill>
            <a:srgbClr val="121626"/>
          </a:solidFill>
          <a:ln w="9525">
            <a:solidFill>
              <a:srgbClr val="4DC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078992"/>
            <a:ext cx="3794760" cy="45720"/>
          </a:xfrm>
          <a:prstGeom prst="rect">
            <a:avLst/>
          </a:prstGeom>
          <a:solidFill>
            <a:srgbClr val="4DC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11704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DC9E6"/>
                </a:solidFill>
                <a:latin typeface="Calibri"/>
              </a:rPr>
              <a:t>Adjacency Loss for VSD/AVSD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1609344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DA5CascadeFiLMAdjacency is a placeholder. An adjacency-consistency loss penalising disconnected LV–RV in VSD cases would complement FiLM conditioning.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8" y="1078992"/>
            <a:ext cx="3794760" cy="2240280"/>
          </a:xfrm>
          <a:prstGeom prst="rect">
            <a:avLst/>
          </a:prstGeom>
          <a:solidFill>
            <a:srgbClr val="121626"/>
          </a:solidFill>
          <a:ln w="9525">
            <a:solidFill>
              <a:srgbClr val="22D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8" y="1078992"/>
            <a:ext cx="3794760" cy="45720"/>
          </a:xfrm>
          <a:prstGeom prst="rect">
            <a:avLst/>
          </a:prstGeom>
          <a:solidFill>
            <a:srgbClr val="22D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11704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87A"/>
                </a:solidFill>
                <a:latin typeface="Calibri"/>
              </a:rPr>
              <a:t>clDice as Primary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1609344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Replace Dice+CE with α·Dice+(1-α)·clDice as the main loss (not extra term). Original paper shows stronger topology preservation. New ClDiceMainLossMixin.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456432"/>
            <a:ext cx="3794760" cy="2240280"/>
          </a:xfrm>
          <a:prstGeom prst="rect">
            <a:avLst/>
          </a:prstGeom>
          <a:solidFill>
            <a:srgbClr val="121626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456432"/>
            <a:ext cx="3794760" cy="457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478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42"/>
                </a:solidFill>
                <a:latin typeface="Calibri"/>
              </a:rPr>
              <a:t>Multi-Stage Encoder FiLM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86784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Apply FiLM at 2 lowest-resolution encoder stages instead of bottleneck-only. Larger receptive field, more spatial context, lower N so (1+γ)^N instability avoided.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456432"/>
            <a:ext cx="3794760" cy="2240280"/>
          </a:xfrm>
          <a:prstGeom prst="rect">
            <a:avLst/>
          </a:prstGeom>
          <a:solidFill>
            <a:srgbClr val="121626"/>
          </a:solidFill>
          <a:ln w="9525">
            <a:solidFill>
              <a:srgbClr val="F6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456432"/>
            <a:ext cx="3794760" cy="45720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5478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6A623"/>
                </a:solidFill>
                <a:latin typeface="Calibri"/>
              </a:rPr>
              <a:t>Cross-Attention Conditioning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3986784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Replace FiLM scale/shift with cross-attention: disease vector attends to spatial bottleneck features. Selective amplification vs. uniform channel rescaling.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8" y="3456432"/>
            <a:ext cx="3794760" cy="2240280"/>
          </a:xfrm>
          <a:prstGeom prst="rect">
            <a:avLst/>
          </a:prstGeom>
          <a:solidFill>
            <a:srgbClr val="121626"/>
          </a:solidFill>
          <a:ln w="9525">
            <a:solidFill>
              <a:srgbClr val="F56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8" y="3456432"/>
            <a:ext cx="3794760" cy="4572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8" y="35478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6565"/>
                </a:solidFill>
                <a:latin typeface="Calibri"/>
              </a:rPr>
              <a:t>Post-Processing: Disease-Aware Largest-CC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3986784"/>
            <a:ext cx="3520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2B0"/>
                </a:solidFill>
                <a:latin typeface="Calibri"/>
              </a:rPr>
              <a:t>Rule-based cleanup: keep N largest connected components per label based on disease flags. Fast, interpretable. TGA/DORV: enforce single AO/PA connected component.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